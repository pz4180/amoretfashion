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371600"/>
            <a:ext cx="5029200" cy="5029200"/>
          </a:xfrm>
          <a:prstGeom prst="ellipse">
            <a:avLst/>
          </a:prstGeom>
          <a:solidFill>
            <a:srgbClr val="E0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029200" cy="4754880"/>
          </a:xfrm>
          <a:prstGeom prst="round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7000"/>
              </a:lnSpc>
              <a:spcAft>
                <a:spcPts val="0"/>
              </a:spcAft>
              <a:defRPr sz="5200" b="1">
                <a:solidFill>
                  <a:srgbClr val="FFFFFF"/>
                </a:solidFill>
                <a:latin typeface="Georgia"/>
              </a:defRPr>
            </a:pPr>
            <a:r>
              <a:t>Amoret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346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900"/>
              </a:lnSpc>
              <a:spcAft>
                <a:spcPts val="0"/>
              </a:spcAft>
              <a:defRPr sz="2200" b="0">
                <a:solidFill>
                  <a:srgbClr val="E0D0C0"/>
                </a:solidFill>
                <a:latin typeface="Calibri"/>
              </a:defRPr>
            </a:pPr>
            <a:r>
              <a:t>Fashion Brand Website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474720"/>
            <a:ext cx="2286000" cy="19050"/>
          </a:xfrm>
          <a:prstGeom prst="rect">
            <a:avLst/>
          </a:prstGeom>
          <a:solidFill>
            <a:srgbClr val="E0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600" b="0">
                <a:solidFill>
                  <a:srgbClr val="A0968C"/>
                </a:solidFill>
                <a:latin typeface="Calibri"/>
              </a:defRPr>
            </a:pPr>
            <a:r>
              <a:t>Website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  <a:defRPr sz="1300" b="0">
                <a:solidFill>
                  <a:srgbClr val="90867C"/>
                </a:solidFill>
                <a:latin typeface="Calibri"/>
              </a:defRPr>
            </a:pPr>
            <a:r>
              <a:t>ASP.NET Web Forms  |  .NET 4.8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  <a:defRPr sz="1300" b="0">
                <a:solidFill>
                  <a:srgbClr val="90867C"/>
                </a:solidFill>
                <a:latin typeface="Calibri"/>
              </a:defRPr>
            </a:pPr>
            <a:r>
              <a:t>Creative Website Development</a:t>
            </a:r>
          </a:p>
        </p:txBody>
      </p:sp>
      <p:sp>
        <p:nvSpPr>
          <p:cNvPr id="10" name="4-Point Star 9"/>
          <p:cNvSpPr/>
          <p:nvPr/>
        </p:nvSpPr>
        <p:spPr>
          <a:xfrm>
            <a:off x="5943600" y="731520"/>
            <a:ext cx="164592" cy="164592"/>
          </a:xfrm>
          <a:prstGeom prst="star4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4-Point Star 10"/>
          <p:cNvSpPr/>
          <p:nvPr/>
        </p:nvSpPr>
        <p:spPr>
          <a:xfrm>
            <a:off x="274320" y="457200"/>
            <a:ext cx="109728" cy="109728"/>
          </a:xfrm>
          <a:prstGeom prst="star4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4-Point Star 11"/>
          <p:cNvSpPr/>
          <p:nvPr/>
        </p:nvSpPr>
        <p:spPr>
          <a:xfrm>
            <a:off x="7772400" y="5943600"/>
            <a:ext cx="137160" cy="137160"/>
          </a:xfrm>
          <a:prstGeom prst="star4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20" y="6217920"/>
            <a:ext cx="73152" cy="73152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0" y="6035040"/>
            <a:ext cx="73152" cy="73152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0" y="1371600"/>
            <a:ext cx="4114800" cy="4114800"/>
          </a:xfrm>
          <a:prstGeom prst="ellipse">
            <a:avLst/>
          </a:prstGeom>
          <a:solidFill>
            <a:srgbClr val="D4C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1089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[Website Preview]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5661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100" b="0">
                <a:solidFill>
                  <a:srgbClr val="5A524A"/>
                </a:solidFill>
                <a:latin typeface="Calibri"/>
              </a:defRPr>
            </a:pPr>
            <a:r>
              <a:t>Insert screenshot here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005840"/>
            <a:ext cx="365760" cy="1905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1005840"/>
            <a:ext cx="19050" cy="36576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81360" y="5558790"/>
            <a:ext cx="365760" cy="1905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228070" y="5212080"/>
            <a:ext cx="19050" cy="36576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3600" b="1">
                <a:solidFill>
                  <a:srgbClr val="3C3530"/>
                </a:solidFill>
                <a:latin typeface="Georgia"/>
              </a:defRPr>
            </a:pPr>
            <a:r>
              <a:t>Website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41732" cy="1270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" y="1371600"/>
            <a:ext cx="141732" cy="1270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141732" cy="1270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91640" y="1371600"/>
            <a:ext cx="141732" cy="1270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0" y="1371600"/>
            <a:ext cx="141732" cy="1270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31720" y="1371600"/>
            <a:ext cx="141732" cy="1270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51760" y="1371600"/>
            <a:ext cx="141732" cy="1270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71800" y="1371600"/>
            <a:ext cx="141732" cy="1270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141732" cy="1270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1371600"/>
            <a:ext cx="141732" cy="1270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4-Point Star 12"/>
          <p:cNvSpPr/>
          <p:nvPr/>
        </p:nvSpPr>
        <p:spPr>
          <a:xfrm>
            <a:off x="4572000" y="457200"/>
            <a:ext cx="164592" cy="164592"/>
          </a:xfrm>
          <a:prstGeom prst="star4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4-Point Star 13"/>
          <p:cNvSpPr/>
          <p:nvPr/>
        </p:nvSpPr>
        <p:spPr>
          <a:xfrm>
            <a:off x="10972800" y="6217920"/>
            <a:ext cx="137160" cy="137160"/>
          </a:xfrm>
          <a:prstGeom prst="star4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760" y="5943600"/>
            <a:ext cx="73152" cy="73152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" y="6217920"/>
            <a:ext cx="73152" cy="73152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1600"/>
              </a:spcAft>
              <a:defRPr sz="1400" b="0">
                <a:solidFill>
                  <a:srgbClr val="6B635B"/>
                </a:solidFill>
                <a:latin typeface="Calibri"/>
              </a:defRPr>
            </a:pPr>
            <a:r>
              <a:t>Amoret Fashion is a fashion brand website created using ASP.NET Web Forms. It promotes a personal fashion brand called "Amoret" with the tagline "Romance, reimagined".</a:t>
            </a:r>
          </a:p>
          <a:p>
            <a:pPr algn="l">
              <a:lnSpc>
                <a:spcPts val="1900"/>
              </a:lnSpc>
              <a:spcAft>
                <a:spcPts val="800"/>
              </a:spcAft>
              <a:defRPr sz="1400" b="1">
                <a:solidFill>
                  <a:srgbClr val="3C3530"/>
                </a:solidFill>
                <a:latin typeface="Calibri"/>
              </a:defRPr>
            </a:pPr>
            <a:r>
              <a:t>The website shows:</a:t>
            </a:r>
          </a:p>
          <a:p>
            <a:pPr algn="l">
              <a:lnSpc>
                <a:spcPts val="1900"/>
              </a:lnSpc>
              <a:spcAft>
                <a:spcPts val="500"/>
              </a:spcAft>
              <a:defRPr sz="1400" b="0">
                <a:solidFill>
                  <a:srgbClr val="6B635B"/>
                </a:solidFill>
                <a:latin typeface="Calibri"/>
              </a:defRPr>
            </a:pPr>
            <a:r>
              <a:t>•   Fashion items — handbags, shoes, dresses, accessories</a:t>
            </a:r>
          </a:p>
          <a:p>
            <a:pPr algn="l">
              <a:lnSpc>
                <a:spcPts val="1900"/>
              </a:lnSpc>
              <a:spcAft>
                <a:spcPts val="500"/>
              </a:spcAft>
              <a:defRPr sz="1400" b="0">
                <a:solidFill>
                  <a:srgbClr val="6B635B"/>
                </a:solidFill>
                <a:latin typeface="Calibri"/>
              </a:defRPr>
            </a:pPr>
            <a:r>
              <a:t>•   Designer story and brand philosophy</a:t>
            </a:r>
          </a:p>
          <a:p>
            <a:pPr algn="l">
              <a:lnSpc>
                <a:spcPts val="1900"/>
              </a:lnSpc>
              <a:spcAft>
                <a:spcPts val="500"/>
              </a:spcAft>
              <a:defRPr sz="1400" b="0">
                <a:solidFill>
                  <a:srgbClr val="6B635B"/>
                </a:solidFill>
                <a:latin typeface="Calibri"/>
              </a:defRPr>
            </a:pPr>
            <a:r>
              <a:t>•   Fashion tips and styling ideas in a Lookbook</a:t>
            </a:r>
          </a:p>
          <a:p>
            <a:pPr algn="l">
              <a:lnSpc>
                <a:spcPts val="1900"/>
              </a:lnSpc>
              <a:spcAft>
                <a:spcPts val="500"/>
              </a:spcAft>
              <a:defRPr sz="1400" b="0">
                <a:solidFill>
                  <a:srgbClr val="6B635B"/>
                </a:solidFill>
                <a:latin typeface="Calibri"/>
              </a:defRPr>
            </a:pPr>
            <a:r>
              <a:t>•   A modern, elegant, and professional look</a:t>
            </a:r>
          </a:p>
          <a:p>
            <a:pPr algn="l">
              <a:lnSpc>
                <a:spcPts val="800"/>
              </a:lnSpc>
              <a:spcAft>
                <a:spcPts val="800"/>
              </a:spcAft>
              <a:defRPr sz="600" b="0">
                <a:solidFill>
                  <a:srgbClr val="3C3530"/>
                </a:solidFill>
                <a:latin typeface="Calibri"/>
              </a:defRPr>
            </a:pPr>
          </a:p>
          <a:p>
            <a:pPr algn="l">
              <a:lnSpc>
                <a:spcPts val="1800"/>
              </a:lnSpc>
              <a:spcAft>
                <a:spcPts val="1000"/>
              </a:spcAft>
              <a:defRPr sz="1300" b="0">
                <a:solidFill>
                  <a:srgbClr val="6B635B"/>
                </a:solidFill>
                <a:latin typeface="Calibri"/>
              </a:defRPr>
            </a:pPr>
            <a:r>
              <a:t>The main focus of this project is creativity, layout, and visual design — not complex system functionality.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0" y="457200"/>
            <a:ext cx="5303520" cy="5303520"/>
          </a:xfrm>
          <a:prstGeom prst="ellipse">
            <a:avLst/>
          </a:prstGeom>
          <a:solidFill>
            <a:srgbClr val="E0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286000"/>
            <a:ext cx="4389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5900"/>
              </a:lnSpc>
              <a:spcAft>
                <a:spcPts val="0"/>
              </a:spcAft>
              <a:defRPr sz="4400" b="1">
                <a:solidFill>
                  <a:srgbClr val="3C3530"/>
                </a:solidFill>
                <a:latin typeface="Georgia"/>
              </a:defRPr>
            </a:pPr>
            <a:r>
              <a:t>Amoret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20040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600" b="0">
                <a:solidFill>
                  <a:srgbClr val="5A524A"/>
                </a:solidFill>
                <a:latin typeface="Calibri"/>
              </a:defRPr>
            </a:pPr>
            <a:r>
              <a:t>"Romance, reimagined"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4572000"/>
            <a:ext cx="1371600" cy="1371600"/>
          </a:xfrm>
          <a:prstGeom prst="ellipse">
            <a:avLst/>
          </a:prstGeom>
          <a:noFill/>
          <a:ln w="12700">
            <a:solidFill>
              <a:srgbClr val="3C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3200400"/>
            <a:ext cx="144997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55770" y="3200400"/>
            <a:ext cx="144997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82340" y="3200400"/>
            <a:ext cx="144997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08910" y="3200400"/>
            <a:ext cx="144997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35480" y="3200400"/>
            <a:ext cx="144997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62050" y="3200400"/>
            <a:ext cx="144997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88620" y="3200400"/>
            <a:ext cx="144997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89520" y="731520"/>
            <a:ext cx="365760" cy="1905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89520" y="731520"/>
            <a:ext cx="19050" cy="36576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887200" y="5650230"/>
            <a:ext cx="365760" cy="1905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233910" y="5303520"/>
            <a:ext cx="19050" cy="36576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E0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4500"/>
              </a:lnSpc>
              <a:spcAft>
                <a:spcPts val="0"/>
              </a:spcAft>
              <a:defRPr sz="3400" b="1">
                <a:solidFill>
                  <a:srgbClr val="3C3530"/>
                </a:solidFill>
                <a:latin typeface="Georgia"/>
              </a:defRPr>
            </a:pPr>
            <a:r>
              <a:t>Features &amp;</a:t>
            </a:r>
            <a:br/>
            <a:r>
              <a:t>Additional Features</a:t>
            </a:r>
          </a:p>
        </p:txBody>
      </p:sp>
      <p:sp>
        <p:nvSpPr>
          <p:cNvPr id="4" name="4-Point Star 3"/>
          <p:cNvSpPr/>
          <p:nvPr/>
        </p:nvSpPr>
        <p:spPr>
          <a:xfrm>
            <a:off x="5303520" y="457200"/>
            <a:ext cx="164592" cy="164592"/>
          </a:xfrm>
          <a:prstGeom prst="star4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4-Point Star 4"/>
          <p:cNvSpPr/>
          <p:nvPr/>
        </p:nvSpPr>
        <p:spPr>
          <a:xfrm>
            <a:off x="11430000" y="365760"/>
            <a:ext cx="137160" cy="137160"/>
          </a:xfrm>
          <a:prstGeom prst="star4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1000"/>
              </a:spcAft>
              <a:defRPr sz="1800" b="1">
                <a:solidFill>
                  <a:srgbClr val="3C3530"/>
                </a:solidFill>
                <a:latin typeface="Calibri"/>
              </a:defRPr>
            </a:pPr>
            <a:r>
              <a:t>Core Website Features</a:t>
            </a:r>
          </a:p>
          <a:p>
            <a:pPr algn="l">
              <a:lnSpc>
                <a:spcPts val="1800"/>
              </a:lnSpc>
              <a:spcAft>
                <a:spcPts val="500"/>
              </a:spcAft>
              <a:defRPr sz="1300" b="0">
                <a:solidFill>
                  <a:srgbClr val="6B635B"/>
                </a:solidFill>
                <a:latin typeface="Calibri"/>
              </a:defRPr>
            </a:pPr>
            <a:r>
              <a:t>•   Homepage with hero image &amp; CTA button</a:t>
            </a:r>
          </a:p>
          <a:p>
            <a:pPr algn="l">
              <a:lnSpc>
                <a:spcPts val="1800"/>
              </a:lnSpc>
              <a:spcAft>
                <a:spcPts val="500"/>
              </a:spcAft>
              <a:defRPr sz="1300" b="0">
                <a:solidFill>
                  <a:srgbClr val="6B635B"/>
                </a:solidFill>
                <a:latin typeface="Calibri"/>
              </a:defRPr>
            </a:pPr>
            <a:r>
              <a:t>•   About the Designer — bio, philosophy, inspiration</a:t>
            </a:r>
          </a:p>
          <a:p>
            <a:pPr algn="l">
              <a:lnSpc>
                <a:spcPts val="1800"/>
              </a:lnSpc>
              <a:spcAft>
                <a:spcPts val="500"/>
              </a:spcAft>
              <a:defRPr sz="1300" b="0">
                <a:solidFill>
                  <a:srgbClr val="6B635B"/>
                </a:solidFill>
                <a:latin typeface="Calibri"/>
              </a:defRPr>
            </a:pPr>
            <a:r>
              <a:t>•   Collection page — 8 products with filter by category</a:t>
            </a:r>
          </a:p>
          <a:p>
            <a:pPr algn="l">
              <a:lnSpc>
                <a:spcPts val="1800"/>
              </a:lnSpc>
              <a:spcAft>
                <a:spcPts val="500"/>
              </a:spcAft>
              <a:defRPr sz="1300" b="0">
                <a:solidFill>
                  <a:srgbClr val="6B635B"/>
                </a:solidFill>
                <a:latin typeface="Calibri"/>
              </a:defRPr>
            </a:pPr>
            <a:r>
              <a:t>•   Lookbook page — articles, styling tips, trends</a:t>
            </a:r>
          </a:p>
          <a:p>
            <a:pPr algn="l">
              <a:lnSpc>
                <a:spcPts val="1800"/>
              </a:lnSpc>
              <a:spcAft>
                <a:spcPts val="500"/>
              </a:spcAft>
              <a:defRPr sz="1300" b="0">
                <a:solidFill>
                  <a:srgbClr val="6B635B"/>
                </a:solidFill>
                <a:latin typeface="Calibri"/>
              </a:defRPr>
            </a:pPr>
            <a:r>
              <a:t>•   Navigation menu across all pages</a:t>
            </a:r>
          </a:p>
          <a:p>
            <a:pPr algn="l">
              <a:lnSpc>
                <a:spcPts val="1800"/>
              </a:lnSpc>
              <a:spcAft>
                <a:spcPts val="500"/>
              </a:spcAft>
              <a:defRPr sz="1300" b="0">
                <a:solidFill>
                  <a:srgbClr val="6B635B"/>
                </a:solidFill>
                <a:latin typeface="Calibri"/>
              </a:defRPr>
            </a:pPr>
            <a:r>
              <a:t>•   Consistent, clean design throughout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0080"/>
            <a:ext cx="475488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1200"/>
              </a:spcAft>
              <a:defRPr sz="1800" b="1">
                <a:solidFill>
                  <a:srgbClr val="3C3530"/>
                </a:solidFill>
                <a:latin typeface="Calibri"/>
              </a:defRPr>
            </a:pPr>
            <a:r>
              <a:t>Additional Features</a:t>
            </a:r>
          </a:p>
          <a:p>
            <a:pPr algn="l">
              <a:lnSpc>
                <a:spcPts val="1800"/>
              </a:lnSpc>
              <a:spcAft>
                <a:spcPts val="100"/>
              </a:spcAft>
              <a:defRPr sz="1300" b="1">
                <a:solidFill>
                  <a:srgbClr val="3C3530"/>
                </a:solidFill>
                <a:latin typeface="Calibri"/>
              </a:defRPr>
            </a:pPr>
            <a:r>
              <a:t>▸  Parallax Scrolling</a:t>
            </a:r>
          </a:p>
          <a:p>
            <a:pPr algn="l">
              <a:lnSpc>
                <a:spcPts val="1500"/>
              </a:lnSpc>
              <a:spcAft>
                <a:spcPts val="800"/>
              </a:spcAft>
              <a:defRPr sz="1100" b="0">
                <a:solidFill>
                  <a:srgbClr val="6B635B"/>
                </a:solidFill>
                <a:latin typeface="Calibri"/>
              </a:defRPr>
            </a:pPr>
            <a:r>
              <a:t>     Hero image moves slower for a depth effect</a:t>
            </a:r>
          </a:p>
          <a:p>
            <a:pPr algn="l">
              <a:lnSpc>
                <a:spcPts val="1800"/>
              </a:lnSpc>
              <a:spcAft>
                <a:spcPts val="100"/>
              </a:spcAft>
              <a:defRPr sz="1300" b="1">
                <a:solidFill>
                  <a:srgbClr val="3C3530"/>
                </a:solidFill>
                <a:latin typeface="Calibri"/>
              </a:defRPr>
            </a:pPr>
            <a:r>
              <a:t>▸  Lazy Loading</a:t>
            </a:r>
          </a:p>
          <a:p>
            <a:pPr algn="l">
              <a:lnSpc>
                <a:spcPts val="1500"/>
              </a:lnSpc>
              <a:spcAft>
                <a:spcPts val="800"/>
              </a:spcAft>
              <a:defRPr sz="1100" b="0">
                <a:solidFill>
                  <a:srgbClr val="6B635B"/>
                </a:solidFill>
                <a:latin typeface="Calibri"/>
              </a:defRPr>
            </a:pPr>
            <a:r>
              <a:t>     Images load only when scrolled to</a:t>
            </a:r>
          </a:p>
          <a:p>
            <a:pPr algn="l">
              <a:lnSpc>
                <a:spcPts val="1800"/>
              </a:lnSpc>
              <a:spcAft>
                <a:spcPts val="100"/>
              </a:spcAft>
              <a:defRPr sz="1300" b="1">
                <a:solidFill>
                  <a:srgbClr val="3C3530"/>
                </a:solidFill>
                <a:latin typeface="Calibri"/>
              </a:defRPr>
            </a:pPr>
            <a:r>
              <a:t>▸  Staggered Animations</a:t>
            </a:r>
          </a:p>
          <a:p>
            <a:pPr algn="l">
              <a:lnSpc>
                <a:spcPts val="1500"/>
              </a:lnSpc>
              <a:spcAft>
                <a:spcPts val="800"/>
              </a:spcAft>
              <a:defRPr sz="1100" b="0">
                <a:solidFill>
                  <a:srgbClr val="6B635B"/>
                </a:solidFill>
                <a:latin typeface="Calibri"/>
              </a:defRPr>
            </a:pPr>
            <a:r>
              <a:t>     Cards fade in one by one on scroll</a:t>
            </a:r>
          </a:p>
          <a:p>
            <a:pPr algn="l">
              <a:lnSpc>
                <a:spcPts val="1800"/>
              </a:lnSpc>
              <a:spcAft>
                <a:spcPts val="100"/>
              </a:spcAft>
              <a:defRPr sz="1300" b="1">
                <a:solidFill>
                  <a:srgbClr val="3C3530"/>
                </a:solidFill>
                <a:latin typeface="Calibri"/>
              </a:defRPr>
            </a:pPr>
            <a:r>
              <a:t>▸  Custom Cursor</a:t>
            </a:r>
          </a:p>
          <a:p>
            <a:pPr algn="l">
              <a:lnSpc>
                <a:spcPts val="1500"/>
              </a:lnSpc>
              <a:spcAft>
                <a:spcPts val="800"/>
              </a:spcAft>
              <a:defRPr sz="1100" b="0">
                <a:solidFill>
                  <a:srgbClr val="6B635B"/>
                </a:solidFill>
                <a:latin typeface="Calibri"/>
              </a:defRPr>
            </a:pPr>
            <a:r>
              <a:t>     A circle follows your mouse</a:t>
            </a:r>
          </a:p>
          <a:p>
            <a:pPr algn="l">
              <a:lnSpc>
                <a:spcPts val="1800"/>
              </a:lnSpc>
              <a:spcAft>
                <a:spcPts val="100"/>
              </a:spcAft>
              <a:defRPr sz="1300" b="1">
                <a:solidFill>
                  <a:srgbClr val="3C3530"/>
                </a:solidFill>
                <a:latin typeface="Calibri"/>
              </a:defRPr>
            </a:pPr>
            <a:r>
              <a:t>▸  Ripple Effect</a:t>
            </a:r>
          </a:p>
          <a:p>
            <a:pPr algn="l">
              <a:lnSpc>
                <a:spcPts val="1500"/>
              </a:lnSpc>
              <a:spcAft>
                <a:spcPts val="800"/>
              </a:spcAft>
              <a:defRPr sz="1100" b="0">
                <a:solidFill>
                  <a:srgbClr val="6B635B"/>
                </a:solidFill>
                <a:latin typeface="Calibri"/>
              </a:defRPr>
            </a:pPr>
            <a:r>
              <a:t>     Wave appears on buttons when clicked</a:t>
            </a:r>
          </a:p>
          <a:p>
            <a:pPr algn="l">
              <a:lnSpc>
                <a:spcPts val="1800"/>
              </a:lnSpc>
              <a:spcAft>
                <a:spcPts val="100"/>
              </a:spcAft>
              <a:defRPr sz="1300" b="1">
                <a:solidFill>
                  <a:srgbClr val="3C3530"/>
                </a:solidFill>
                <a:latin typeface="Calibri"/>
              </a:defRPr>
            </a:pPr>
            <a:r>
              <a:t>▸  Collection Filter</a:t>
            </a:r>
          </a:p>
          <a:p>
            <a:pPr algn="l">
              <a:lnSpc>
                <a:spcPts val="1500"/>
              </a:lnSpc>
              <a:spcAft>
                <a:spcPts val="800"/>
              </a:spcAft>
              <a:defRPr sz="1100" b="0">
                <a:solidFill>
                  <a:srgbClr val="6B635B"/>
                </a:solidFill>
                <a:latin typeface="Calibri"/>
              </a:defRPr>
            </a:pPr>
            <a:r>
              <a:t>     Filter items by category using buttons</a:t>
            </a:r>
          </a:p>
          <a:p>
            <a:pPr algn="l">
              <a:lnSpc>
                <a:spcPts val="1800"/>
              </a:lnSpc>
              <a:spcAft>
                <a:spcPts val="100"/>
              </a:spcAft>
              <a:defRPr sz="1300" b="1">
                <a:solidFill>
                  <a:srgbClr val="3C3530"/>
                </a:solidFill>
                <a:latin typeface="Calibri"/>
              </a:defRPr>
            </a:pPr>
            <a:r>
              <a:t>▸  Newsletter Form</a:t>
            </a:r>
          </a:p>
          <a:p>
            <a:pPr algn="l">
              <a:lnSpc>
                <a:spcPts val="1500"/>
              </a:lnSpc>
              <a:spcAft>
                <a:spcPts val="800"/>
              </a:spcAft>
              <a:defRPr sz="1100" b="0">
                <a:solidFill>
                  <a:srgbClr val="6B635B"/>
                </a:solidFill>
                <a:latin typeface="Calibri"/>
              </a:defRPr>
            </a:pPr>
            <a:r>
              <a:t>     Email subscription with validation</a:t>
            </a:r>
          </a:p>
          <a:p>
            <a:pPr algn="l">
              <a:lnSpc>
                <a:spcPts val="1800"/>
              </a:lnSpc>
              <a:spcAft>
                <a:spcPts val="100"/>
              </a:spcAft>
              <a:defRPr sz="1300" b="1">
                <a:solidFill>
                  <a:srgbClr val="3C3530"/>
                </a:solidFill>
                <a:latin typeface="Calibri"/>
              </a:defRPr>
            </a:pPr>
            <a:r>
              <a:t>▸  Hover Effects</a:t>
            </a:r>
          </a:p>
          <a:p>
            <a:pPr algn="l">
              <a:lnSpc>
                <a:spcPts val="1500"/>
              </a:lnSpc>
              <a:spcAft>
                <a:spcPts val="800"/>
              </a:spcAft>
              <a:defRPr sz="1100" b="0">
                <a:solidFill>
                  <a:srgbClr val="6B635B"/>
                </a:solidFill>
                <a:latin typeface="Calibri"/>
              </a:defRPr>
            </a:pPr>
            <a:r>
              <a:t>     Cards lift and images zoom on hover</a:t>
            </a:r>
          </a:p>
          <a:p>
            <a:pPr algn="l">
              <a:lnSpc>
                <a:spcPts val="1800"/>
              </a:lnSpc>
              <a:spcAft>
                <a:spcPts val="100"/>
              </a:spcAft>
              <a:defRPr sz="1300" b="1">
                <a:solidFill>
                  <a:srgbClr val="3C3530"/>
                </a:solidFill>
                <a:latin typeface="Calibri"/>
              </a:defRPr>
            </a:pPr>
            <a:r>
              <a:t>▸  Responsive Design</a:t>
            </a:r>
          </a:p>
          <a:p>
            <a:pPr algn="l">
              <a:lnSpc>
                <a:spcPts val="1500"/>
              </a:lnSpc>
              <a:spcAft>
                <a:spcPts val="800"/>
              </a:spcAft>
              <a:defRPr sz="1100" b="0">
                <a:solidFill>
                  <a:srgbClr val="6B635B"/>
                </a:solidFill>
                <a:latin typeface="Calibri"/>
              </a:defRPr>
            </a:pPr>
            <a:r>
              <a:t>     Works on desktop, tablet, and mobile</a:t>
            </a:r>
          </a:p>
          <a:p>
            <a:pPr algn="l">
              <a:lnSpc>
                <a:spcPts val="1800"/>
              </a:lnSpc>
              <a:spcAft>
                <a:spcPts val="100"/>
              </a:spcAft>
              <a:defRPr sz="1300" b="1">
                <a:solidFill>
                  <a:srgbClr val="3C3530"/>
                </a:solidFill>
                <a:latin typeface="Calibri"/>
              </a:defRPr>
            </a:pPr>
            <a:r>
              <a:t>▸  Smooth Scrolling</a:t>
            </a:r>
          </a:p>
          <a:p>
            <a:pPr algn="l">
              <a:lnSpc>
                <a:spcPts val="1500"/>
              </a:lnSpc>
              <a:spcAft>
                <a:spcPts val="800"/>
              </a:spcAft>
              <a:defRPr sz="1100" b="0">
                <a:solidFill>
                  <a:srgbClr val="6B635B"/>
                </a:solidFill>
                <a:latin typeface="Calibri"/>
              </a:defRPr>
            </a:pPr>
            <a:r>
              <a:t>     Navigation scrolls smoothly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400800"/>
            <a:ext cx="73152" cy="73152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6583680"/>
            <a:ext cx="73152" cy="73152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0" y="5029200"/>
            <a:ext cx="1097280" cy="1097280"/>
          </a:xfrm>
          <a:prstGeom prst="ellipse">
            <a:avLst/>
          </a:prstGeom>
          <a:noFill/>
          <a:ln w="12700">
            <a:solidFill>
              <a:srgbClr val="5A5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0" y="457200"/>
            <a:ext cx="5029200" cy="5943600"/>
          </a:xfrm>
          <a:prstGeom prst="roundRect">
            <a:avLst/>
          </a:prstGeom>
          <a:solidFill>
            <a:srgbClr val="E0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40880" y="1097280"/>
            <a:ext cx="4114800" cy="4572000"/>
          </a:xfrm>
          <a:prstGeom prst="rect">
            <a:avLst/>
          </a:prstGeom>
          <a:solidFill>
            <a:srgbClr val="F5F0EB"/>
          </a:solidFill>
          <a:ln w="19050">
            <a:solidFill>
              <a:srgbClr val="D4C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0" y="30175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D4C0AE"/>
                </a:solidFill>
                <a:latin typeface="Calibri"/>
              </a:defRPr>
            </a:pPr>
            <a:r>
              <a:t>[Site.Master Screenshot]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34747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100" b="0">
                <a:solidFill>
                  <a:srgbClr val="6B635B"/>
                </a:solidFill>
                <a:latin typeface="Calibri"/>
              </a:defRPr>
            </a:pPr>
            <a:r>
              <a:t>Insert your screenshot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74320"/>
            <a:ext cx="365760" cy="1905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274320"/>
            <a:ext cx="19050" cy="36576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6473190"/>
            <a:ext cx="365760" cy="1905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76710" y="6126480"/>
            <a:ext cx="19050" cy="36576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400" b="0">
                <a:solidFill>
                  <a:srgbClr val="6B635B"/>
                </a:solidFill>
                <a:latin typeface="Calibri"/>
              </a:defRPr>
            </a:pPr>
            <a:r>
              <a:t>Code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82296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4000"/>
              </a:lnSpc>
              <a:spcAft>
                <a:spcPts val="0"/>
              </a:spcAft>
              <a:defRPr sz="3000" b="1">
                <a:solidFill>
                  <a:srgbClr val="3C3530"/>
                </a:solidFill>
                <a:latin typeface="Georgia"/>
              </a:defRPr>
            </a:pPr>
            <a:r>
              <a:t>Site.Master — Shared Layout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44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173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02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031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460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889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318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4-Point Star 19"/>
          <p:cNvSpPr/>
          <p:nvPr/>
        </p:nvSpPr>
        <p:spPr>
          <a:xfrm>
            <a:off x="4114800" y="457200"/>
            <a:ext cx="137160" cy="137160"/>
          </a:xfrm>
          <a:prstGeom prst="star4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9202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1200"/>
              </a:spcAft>
              <a:defRPr sz="1300" b="0">
                <a:solidFill>
                  <a:srgbClr val="6B635B"/>
                </a:solidFill>
                <a:latin typeface="Calibri"/>
              </a:defRPr>
            </a:pPr>
            <a:r>
              <a:t>This is the master template. Every page uses this file so the navigation bar and footer stay the same across the whole website.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926080"/>
            <a:ext cx="5303520" cy="1463040"/>
          </a:xfrm>
          <a:prstGeom prst="roundRect">
            <a:avLst/>
          </a:prstGeom>
          <a:solidFill>
            <a:srgbClr val="E0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06324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60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Navigation Bar (Top)</a:t>
            </a:r>
          </a:p>
          <a:p>
            <a:pPr algn="l">
              <a:lnSpc>
                <a:spcPts val="1600"/>
              </a:lnSpc>
              <a:spcAft>
                <a:spcPts val="50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•   Brand logo on the left</a:t>
            </a:r>
          </a:p>
          <a:p>
            <a:pPr algn="l">
              <a:lnSpc>
                <a:spcPts val="1600"/>
              </a:lnSpc>
              <a:spcAft>
                <a:spcPts val="50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•   Menu links: Home, About, Collection, Lookbook</a:t>
            </a:r>
          </a:p>
          <a:p>
            <a:pPr algn="l">
              <a:lnSpc>
                <a:spcPts val="1600"/>
              </a:lnSpc>
              <a:spcAft>
                <a:spcPts val="50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•   Search &amp; cart icons on the right</a:t>
            </a:r>
          </a:p>
          <a:p>
            <a:pPr algn="l">
              <a:lnSpc>
                <a:spcPts val="1600"/>
              </a:lnSpc>
              <a:spcAft>
                <a:spcPts val="50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•   Fixed at top — always visible when scrolling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63440"/>
            <a:ext cx="5303520" cy="1463040"/>
          </a:xfrm>
          <a:prstGeom prst="roundRect">
            <a:avLst/>
          </a:prstGeom>
          <a:solidFill>
            <a:srgbClr val="E0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80060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60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Footer (Bottom)</a:t>
            </a:r>
          </a:p>
          <a:p>
            <a:pPr algn="l">
              <a:lnSpc>
                <a:spcPts val="1600"/>
              </a:lnSpc>
              <a:spcAft>
                <a:spcPts val="50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•   Brand info &amp; tagline</a:t>
            </a:r>
          </a:p>
          <a:p>
            <a:pPr algn="l">
              <a:lnSpc>
                <a:spcPts val="1600"/>
              </a:lnSpc>
              <a:spcAft>
                <a:spcPts val="50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•   Shop links &amp; company links</a:t>
            </a:r>
          </a:p>
          <a:p>
            <a:pPr algn="l">
              <a:lnSpc>
                <a:spcPts val="1600"/>
              </a:lnSpc>
              <a:spcAft>
                <a:spcPts val="50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•   Social media icons (Facebook, Instagram, YouTube)</a:t>
            </a:r>
          </a:p>
          <a:p>
            <a:pPr algn="l">
              <a:lnSpc>
                <a:spcPts val="1600"/>
              </a:lnSpc>
              <a:spcAft>
                <a:spcPts val="50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•   Newsletter subscription form</a:t>
            </a:r>
          </a:p>
        </p:txBody>
      </p:sp>
      <p:sp>
        <p:nvSpPr>
          <p:cNvPr id="26" name="Oval 25"/>
          <p:cNvSpPr/>
          <p:nvPr/>
        </p:nvSpPr>
        <p:spPr>
          <a:xfrm>
            <a:off x="274320" y="6217920"/>
            <a:ext cx="73152" cy="73152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" y="6400800"/>
            <a:ext cx="73152" cy="73152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0" cy="5943600"/>
          </a:xfrm>
          <a:prstGeom prst="roundRect">
            <a:avLst/>
          </a:prstGeom>
          <a:solidFill>
            <a:srgbClr val="E0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114800" cy="4572000"/>
          </a:xfrm>
          <a:prstGeom prst="rect">
            <a:avLst/>
          </a:prstGeom>
          <a:solidFill>
            <a:srgbClr val="F5F0EB"/>
          </a:solidFill>
          <a:ln w="19050">
            <a:solidFill>
              <a:srgbClr val="D4C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D4C0AE"/>
                </a:solidFill>
                <a:latin typeface="Calibri"/>
              </a:defRPr>
            </a:pPr>
            <a:r>
              <a:t>[Home Page Screenshot]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100" b="0">
                <a:solidFill>
                  <a:srgbClr val="6B635B"/>
                </a:solidFill>
                <a:latin typeface="Calibri"/>
              </a:defRPr>
            </a:pPr>
            <a:r>
              <a:t>Insert your screenshot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74320"/>
            <a:ext cx="365760" cy="1905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74320"/>
            <a:ext cx="19050" cy="36576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6473190"/>
            <a:ext cx="365760" cy="1905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50230" y="6126480"/>
            <a:ext cx="19050" cy="36576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4572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400" b="0">
                <a:solidFill>
                  <a:srgbClr val="6B635B"/>
                </a:solidFill>
                <a:latin typeface="Calibri"/>
              </a:defRPr>
            </a:pPr>
            <a:r>
              <a:t>Code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82296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4000"/>
              </a:lnSpc>
              <a:spcAft>
                <a:spcPts val="0"/>
              </a:spcAft>
              <a:defRPr sz="3000" b="1">
                <a:solidFill>
                  <a:srgbClr val="3C3530"/>
                </a:solidFill>
                <a:latin typeface="Georgia"/>
              </a:defRPr>
            </a:pPr>
            <a:r>
              <a:t>Default.aspx — Home Page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608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037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466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24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182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4-Point Star 19"/>
          <p:cNvSpPr/>
          <p:nvPr/>
        </p:nvSpPr>
        <p:spPr>
          <a:xfrm>
            <a:off x="11430000" y="457200"/>
            <a:ext cx="137160" cy="137160"/>
          </a:xfrm>
          <a:prstGeom prst="star4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17920" y="2103120"/>
            <a:ext cx="365760" cy="365760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12140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08483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Hero Section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42316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Full-screen image with brand name, tagline, and "View Collection" CTA button</a:t>
            </a:r>
          </a:p>
        </p:txBody>
      </p:sp>
      <p:sp>
        <p:nvSpPr>
          <p:cNvPr id="25" name="Oval 24"/>
          <p:cNvSpPr/>
          <p:nvPr/>
        </p:nvSpPr>
        <p:spPr>
          <a:xfrm>
            <a:off x="6217920" y="3200400"/>
            <a:ext cx="365760" cy="365760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21868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18211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Brand Introduction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52044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Two-column layout — brand story on the left, image on the right</a:t>
            </a:r>
          </a:p>
        </p:txBody>
      </p:sp>
      <p:sp>
        <p:nvSpPr>
          <p:cNvPr id="29" name="Oval 28"/>
          <p:cNvSpPr/>
          <p:nvPr/>
        </p:nvSpPr>
        <p:spPr>
          <a:xfrm>
            <a:off x="6217920" y="4297680"/>
            <a:ext cx="365760" cy="365760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27939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Featured Collections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6177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Three preview cards showing Handbags, Dresses, and Accessories</a:t>
            </a:r>
          </a:p>
        </p:txBody>
      </p:sp>
      <p:sp>
        <p:nvSpPr>
          <p:cNvPr id="33" name="Oval 32"/>
          <p:cNvSpPr/>
          <p:nvPr/>
        </p:nvSpPr>
        <p:spPr>
          <a:xfrm>
            <a:off x="6217920" y="5394960"/>
            <a:ext cx="365760" cy="365760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541324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537667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Philosophy Section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71500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Centered text about the brand's design beliefs and values</a:t>
            </a:r>
          </a:p>
        </p:txBody>
      </p:sp>
      <p:sp>
        <p:nvSpPr>
          <p:cNvPr id="37" name="Oval 36"/>
          <p:cNvSpPr/>
          <p:nvPr/>
        </p:nvSpPr>
        <p:spPr>
          <a:xfrm>
            <a:off x="11430000" y="6217920"/>
            <a:ext cx="73152" cy="73152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704320" y="6035040"/>
            <a:ext cx="73152" cy="73152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0" y="457200"/>
            <a:ext cx="5029200" cy="5943600"/>
          </a:xfrm>
          <a:prstGeom prst="round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40880" y="1097280"/>
            <a:ext cx="4114800" cy="4572000"/>
          </a:xfrm>
          <a:prstGeom prst="rect">
            <a:avLst/>
          </a:prstGeom>
          <a:solidFill>
            <a:srgbClr val="F5F0EB"/>
          </a:solidFill>
          <a:ln w="19050">
            <a:solidFill>
              <a:srgbClr val="D4C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0" y="30175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D4C0AE"/>
                </a:solidFill>
                <a:latin typeface="Calibri"/>
              </a:defRPr>
            </a:pPr>
            <a:r>
              <a:t>[About Page Screenshot]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34747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100" b="0">
                <a:solidFill>
                  <a:srgbClr val="6B635B"/>
                </a:solidFill>
                <a:latin typeface="Calibri"/>
              </a:defRPr>
            </a:pPr>
            <a:r>
              <a:t>Insert your screenshot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31089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E0D0C0"/>
                </a:solidFill>
                <a:latin typeface="Calibri"/>
              </a:defRPr>
            </a:pPr>
            <a:r>
              <a:t>[About Page Screenshot]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35661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100" b="0">
                <a:solidFill>
                  <a:srgbClr val="D4C0AE"/>
                </a:solidFill>
                <a:latin typeface="Calibri"/>
              </a:defRPr>
            </a:pPr>
            <a:r>
              <a:t>Insert your screenshot 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74320"/>
            <a:ext cx="365760" cy="1905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74320"/>
            <a:ext cx="19050" cy="36576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0" y="6473190"/>
            <a:ext cx="365760" cy="1905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76710" y="6126480"/>
            <a:ext cx="19050" cy="36576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400" b="0">
                <a:solidFill>
                  <a:srgbClr val="6B635B"/>
                </a:solidFill>
                <a:latin typeface="Calibri"/>
              </a:defRPr>
            </a:pPr>
            <a:r>
              <a:t>Code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82296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4000"/>
              </a:lnSpc>
              <a:spcAft>
                <a:spcPts val="0"/>
              </a:spcAft>
              <a:defRPr sz="3000" b="1">
                <a:solidFill>
                  <a:srgbClr val="3C3530"/>
                </a:solidFill>
                <a:latin typeface="Georgia"/>
              </a:defRPr>
            </a:pPr>
            <a:r>
              <a:t>About.aspx — About</a:t>
            </a:r>
            <a:br/>
            <a:r>
              <a:t>the Designer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44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173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02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031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460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889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318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4-Point Star 21"/>
          <p:cNvSpPr/>
          <p:nvPr/>
        </p:nvSpPr>
        <p:spPr>
          <a:xfrm>
            <a:off x="274320" y="365760"/>
            <a:ext cx="137160" cy="137160"/>
          </a:xfrm>
          <a:prstGeom prst="star4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4-Point Star 22"/>
          <p:cNvSpPr/>
          <p:nvPr/>
        </p:nvSpPr>
        <p:spPr>
          <a:xfrm>
            <a:off x="5943600" y="6217920"/>
            <a:ext cx="109728" cy="109728"/>
          </a:xfrm>
          <a:prstGeom prst="star4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2286000"/>
            <a:ext cx="347472" cy="347472"/>
          </a:xfrm>
          <a:prstGeom prst="ellipse">
            <a:avLst/>
          </a:prstGeom>
          <a:solidFill>
            <a:srgbClr val="D4C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29514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400" b="1">
                <a:solidFill>
                  <a:srgbClr val="3C353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26771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000"/>
              </a:lnSpc>
              <a:spcAft>
                <a:spcPts val="0"/>
              </a:spcAft>
              <a:defRPr sz="1500" b="1">
                <a:solidFill>
                  <a:srgbClr val="3C3530"/>
                </a:solidFill>
                <a:latin typeface="Calibri"/>
              </a:defRPr>
            </a:pPr>
            <a:r>
              <a:t>Designer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2560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Photo and bio of the designer in a two-column layout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3154680"/>
            <a:ext cx="347472" cy="347472"/>
          </a:xfrm>
          <a:prstGeom prst="ellipse">
            <a:avLst/>
          </a:prstGeom>
          <a:solidFill>
            <a:srgbClr val="D4C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16382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400" b="1">
                <a:solidFill>
                  <a:srgbClr val="3C353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13639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000"/>
              </a:lnSpc>
              <a:spcAft>
                <a:spcPts val="0"/>
              </a:spcAft>
              <a:defRPr sz="1500" b="1">
                <a:solidFill>
                  <a:srgbClr val="3C3530"/>
                </a:solidFill>
                <a:latin typeface="Calibri"/>
              </a:defRPr>
            </a:pPr>
            <a:r>
              <a:t>Design Philosophy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34290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3 numbered cards — Modern Romanticism, Timeless Elegance, Feminine Empowerment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" y="4023360"/>
            <a:ext cx="347472" cy="347472"/>
          </a:xfrm>
          <a:prstGeom prst="ellipse">
            <a:avLst/>
          </a:prstGeom>
          <a:solidFill>
            <a:srgbClr val="D4C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03250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400" b="1">
                <a:solidFill>
                  <a:srgbClr val="3C353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00507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000"/>
              </a:lnSpc>
              <a:spcAft>
                <a:spcPts val="0"/>
              </a:spcAft>
              <a:defRPr sz="1500" b="1">
                <a:solidFill>
                  <a:srgbClr val="3C3530"/>
                </a:solidFill>
                <a:latin typeface="Calibri"/>
              </a:defRPr>
            </a:pPr>
            <a:r>
              <a:t>Design Inspiration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42976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Sources: classical art, natural textures, vintage fashion, architecture</a:t>
            </a:r>
          </a:p>
        </p:txBody>
      </p:sp>
      <p:sp>
        <p:nvSpPr>
          <p:cNvPr id="36" name="Oval 35"/>
          <p:cNvSpPr/>
          <p:nvPr/>
        </p:nvSpPr>
        <p:spPr>
          <a:xfrm>
            <a:off x="731520" y="4892040"/>
            <a:ext cx="347472" cy="347472"/>
          </a:xfrm>
          <a:prstGeom prst="ellipse">
            <a:avLst/>
          </a:prstGeom>
          <a:solidFill>
            <a:srgbClr val="D4C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90118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400" b="1">
                <a:solidFill>
                  <a:srgbClr val="3C353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8737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000"/>
              </a:lnSpc>
              <a:spcAft>
                <a:spcPts val="0"/>
              </a:spcAft>
              <a:defRPr sz="1500" b="1">
                <a:solidFill>
                  <a:srgbClr val="3C3530"/>
                </a:solidFill>
                <a:latin typeface="Calibri"/>
              </a:defRPr>
            </a:pPr>
            <a:r>
              <a:t>The Amoret Style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51663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4 feature blocks — Soft Palettes, Flowing Fabrics, Delicate Details, Modern Cuts</a:t>
            </a:r>
          </a:p>
        </p:txBody>
      </p:sp>
      <p:sp>
        <p:nvSpPr>
          <p:cNvPr id="40" name="Oval 39"/>
          <p:cNvSpPr/>
          <p:nvPr/>
        </p:nvSpPr>
        <p:spPr>
          <a:xfrm>
            <a:off x="731520" y="5760720"/>
            <a:ext cx="347472" cy="347472"/>
          </a:xfrm>
          <a:prstGeom prst="ellipse">
            <a:avLst/>
          </a:prstGeom>
          <a:solidFill>
            <a:srgbClr val="D4C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76986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400" b="1">
                <a:solidFill>
                  <a:srgbClr val="3C353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57424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000"/>
              </a:lnSpc>
              <a:spcAft>
                <a:spcPts val="0"/>
              </a:spcAft>
              <a:defRPr sz="1500" b="1">
                <a:solidFill>
                  <a:srgbClr val="3C3530"/>
                </a:solidFill>
                <a:latin typeface="Calibri"/>
              </a:defRPr>
            </a:pPr>
            <a:r>
              <a:t>Call to 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60350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Button linking to Collection page</a:t>
            </a:r>
          </a:p>
        </p:txBody>
      </p:sp>
      <p:sp>
        <p:nvSpPr>
          <p:cNvPr id="44" name="Oval 43"/>
          <p:cNvSpPr/>
          <p:nvPr/>
        </p:nvSpPr>
        <p:spPr>
          <a:xfrm>
            <a:off x="274320" y="6400800"/>
            <a:ext cx="73152" cy="73152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200" y="6583680"/>
            <a:ext cx="73152" cy="73152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0" cy="5943600"/>
          </a:xfrm>
          <a:prstGeom prst="roundRect">
            <a:avLst/>
          </a:prstGeom>
          <a:solidFill>
            <a:srgbClr val="E0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114800" cy="4572000"/>
          </a:xfrm>
          <a:prstGeom prst="rect">
            <a:avLst/>
          </a:prstGeom>
          <a:solidFill>
            <a:srgbClr val="F5F0EB"/>
          </a:solidFill>
          <a:ln w="19050">
            <a:solidFill>
              <a:srgbClr val="D4C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D4C0AE"/>
                </a:solidFill>
                <a:latin typeface="Calibri"/>
              </a:defRPr>
            </a:pPr>
            <a:r>
              <a:t>[Collection Page Screenshot]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100" b="0">
                <a:solidFill>
                  <a:srgbClr val="6B635B"/>
                </a:solidFill>
                <a:latin typeface="Calibri"/>
              </a:defRPr>
            </a:pPr>
            <a:r>
              <a:t>Insert your screenshot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74320"/>
            <a:ext cx="365760" cy="1905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74320"/>
            <a:ext cx="19050" cy="36576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6473190"/>
            <a:ext cx="365760" cy="1905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50230" y="6126480"/>
            <a:ext cx="19050" cy="36576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4572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400" b="0">
                <a:solidFill>
                  <a:srgbClr val="6B635B"/>
                </a:solidFill>
                <a:latin typeface="Calibri"/>
              </a:defRPr>
            </a:pPr>
            <a:r>
              <a:t>Code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82296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4000"/>
              </a:lnSpc>
              <a:spcAft>
                <a:spcPts val="0"/>
              </a:spcAft>
              <a:defRPr sz="3000" b="1">
                <a:solidFill>
                  <a:srgbClr val="3C3530"/>
                </a:solidFill>
                <a:latin typeface="Georgia"/>
              </a:defRPr>
            </a:pPr>
            <a:r>
              <a:t>Collection.aspx —</a:t>
            </a:r>
            <a:br/>
            <a:r>
              <a:t>Product Gallery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608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037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466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24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182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4-Point Star 19"/>
          <p:cNvSpPr/>
          <p:nvPr/>
        </p:nvSpPr>
        <p:spPr>
          <a:xfrm>
            <a:off x="11430000" y="365760"/>
            <a:ext cx="137160" cy="137160"/>
          </a:xfrm>
          <a:prstGeom prst="star4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17920" y="2286000"/>
            <a:ext cx="365760" cy="365760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30428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26771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Filter Buttons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60604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5 buttons — All, Handbags, Shoes, Dresses, Accessories. Click to filter products.</a:t>
            </a:r>
          </a:p>
        </p:txBody>
      </p:sp>
      <p:sp>
        <p:nvSpPr>
          <p:cNvPr id="25" name="Oval 24"/>
          <p:cNvSpPr/>
          <p:nvPr/>
        </p:nvSpPr>
        <p:spPr>
          <a:xfrm>
            <a:off x="6217920" y="3337560"/>
            <a:ext cx="365760" cy="365760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35584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31927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Product Grid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65760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8 fashion items in a 3-column grid with image, name, category, description, and price (RM).</a:t>
            </a:r>
          </a:p>
        </p:txBody>
      </p:sp>
      <p:sp>
        <p:nvSpPr>
          <p:cNvPr id="29" name="Oval 28"/>
          <p:cNvSpPr/>
          <p:nvPr/>
        </p:nvSpPr>
        <p:spPr>
          <a:xfrm>
            <a:off x="6217920" y="4389120"/>
            <a:ext cx="365760" cy="365760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440740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37083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Hover Overlay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70916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Dark overlay with "View Details" button appears on hover. Image zooms slightly.</a:t>
            </a:r>
          </a:p>
        </p:txBody>
      </p:sp>
      <p:sp>
        <p:nvSpPr>
          <p:cNvPr id="33" name="Oval 32"/>
          <p:cNvSpPr/>
          <p:nvPr/>
        </p:nvSpPr>
        <p:spPr>
          <a:xfrm>
            <a:off x="6217920" y="5440680"/>
            <a:ext cx="365760" cy="365760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5458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542239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Collection Statement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7607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A short motivational message at the bottom.</a:t>
            </a:r>
          </a:p>
        </p:txBody>
      </p:sp>
      <p:sp>
        <p:nvSpPr>
          <p:cNvPr id="37" name="Oval 36"/>
          <p:cNvSpPr/>
          <p:nvPr/>
        </p:nvSpPr>
        <p:spPr>
          <a:xfrm>
            <a:off x="11430000" y="6217920"/>
            <a:ext cx="73152" cy="73152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704320" y="6035040"/>
            <a:ext cx="73152" cy="73152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0" y="457200"/>
            <a:ext cx="5029200" cy="5943600"/>
          </a:xfrm>
          <a:prstGeom prst="roundRect">
            <a:avLst/>
          </a:prstGeom>
          <a:solidFill>
            <a:srgbClr val="E0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40880" y="1097280"/>
            <a:ext cx="4114800" cy="4572000"/>
          </a:xfrm>
          <a:prstGeom prst="rect">
            <a:avLst/>
          </a:prstGeom>
          <a:solidFill>
            <a:srgbClr val="F5F0EB"/>
          </a:solidFill>
          <a:ln w="19050">
            <a:solidFill>
              <a:srgbClr val="D4C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0" y="30175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D4C0AE"/>
                </a:solidFill>
                <a:latin typeface="Calibri"/>
              </a:defRPr>
            </a:pPr>
            <a:r>
              <a:t>[Lookbook Page Screenshot]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34747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100" b="0">
                <a:solidFill>
                  <a:srgbClr val="6B635B"/>
                </a:solidFill>
                <a:latin typeface="Calibri"/>
              </a:defRPr>
            </a:pPr>
            <a:r>
              <a:t>Insert your screenshot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74320"/>
            <a:ext cx="365760" cy="1905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274320"/>
            <a:ext cx="19050" cy="36576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6473190"/>
            <a:ext cx="365760" cy="1905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76710" y="6126480"/>
            <a:ext cx="19050" cy="36576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400" b="0">
                <a:solidFill>
                  <a:srgbClr val="6B635B"/>
                </a:solidFill>
                <a:latin typeface="Calibri"/>
              </a:defRPr>
            </a:pPr>
            <a:r>
              <a:t>Code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82296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4000"/>
              </a:lnSpc>
              <a:spcAft>
                <a:spcPts val="0"/>
              </a:spcAft>
              <a:defRPr sz="3000" b="1">
                <a:solidFill>
                  <a:srgbClr val="3C3530"/>
                </a:solidFill>
                <a:latin typeface="Georgia"/>
              </a:defRPr>
            </a:pPr>
            <a:r>
              <a:t>Lookbook.aspx —</a:t>
            </a:r>
            <a:br/>
            <a:r>
              <a:t>Fashion Journal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44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173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02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031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460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889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31820" y="192024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4-Point Star 19"/>
          <p:cNvSpPr/>
          <p:nvPr/>
        </p:nvSpPr>
        <p:spPr>
          <a:xfrm>
            <a:off x="4114800" y="457200"/>
            <a:ext cx="137160" cy="137160"/>
          </a:xfrm>
          <a:prstGeom prst="star4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2286000"/>
            <a:ext cx="365760" cy="365760"/>
          </a:xfrm>
          <a:prstGeom prst="ellipse">
            <a:avLst/>
          </a:prstGeom>
          <a:solidFill>
            <a:srgbClr val="D4C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30428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226771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Featured Article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60604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A large highlighted article — "The Art of Modern Romantic Dressing" with image, date, and excerpt.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3337560"/>
            <a:ext cx="365760" cy="365760"/>
          </a:xfrm>
          <a:prstGeom prst="ellipse">
            <a:avLst/>
          </a:prstGeom>
          <a:solidFill>
            <a:srgbClr val="D4C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35584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31927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Article Grid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6576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6 articles covering Styling Tips, Fashion Tips, and Seasonal Trends with image and tag.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" y="4389120"/>
            <a:ext cx="365760" cy="365760"/>
          </a:xfrm>
          <a:prstGeom prst="ellipse">
            <a:avLst/>
          </a:prstGeom>
          <a:solidFill>
            <a:srgbClr val="D4C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40740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37083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Quick Styling Tips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70916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4 numbered tip cards — Mix Textures, Embrace Neutrals, Focus on Fit, Invest in Classics.</a:t>
            </a:r>
          </a:p>
        </p:txBody>
      </p:sp>
      <p:sp>
        <p:nvSpPr>
          <p:cNvPr id="33" name="Oval 32"/>
          <p:cNvSpPr/>
          <p:nvPr/>
        </p:nvSpPr>
        <p:spPr>
          <a:xfrm>
            <a:off x="731520" y="5440680"/>
            <a:ext cx="365760" cy="365760"/>
          </a:xfrm>
          <a:prstGeom prst="ellipse">
            <a:avLst/>
          </a:prstGeom>
          <a:solidFill>
            <a:srgbClr val="D4C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458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42239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Newsletter 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76072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Email subscription box with validation. Shows green success or pink error message.</a:t>
            </a:r>
          </a:p>
        </p:txBody>
      </p:sp>
      <p:sp>
        <p:nvSpPr>
          <p:cNvPr id="37" name="Oval 36"/>
          <p:cNvSpPr/>
          <p:nvPr/>
        </p:nvSpPr>
        <p:spPr>
          <a:xfrm>
            <a:off x="274320" y="6217920"/>
            <a:ext cx="73152" cy="73152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57200" y="6400800"/>
            <a:ext cx="73152" cy="73152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E0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4500"/>
              </a:lnSpc>
              <a:spcAft>
                <a:spcPts val="0"/>
              </a:spcAft>
              <a:defRPr sz="3400" b="1">
                <a:solidFill>
                  <a:srgbClr val="3C3530"/>
                </a:solidFill>
                <a:latin typeface="Georgia"/>
              </a:defRPr>
            </a:pPr>
            <a:r>
              <a:t>Libraries &amp;</a:t>
            </a:r>
            <a:br/>
            <a:r>
              <a:t>Frameworks Used</a:t>
            </a:r>
          </a:p>
        </p:txBody>
      </p:sp>
      <p:sp>
        <p:nvSpPr>
          <p:cNvPr id="4" name="4-Point Star 3"/>
          <p:cNvSpPr/>
          <p:nvPr/>
        </p:nvSpPr>
        <p:spPr>
          <a:xfrm>
            <a:off x="5029200" y="457200"/>
            <a:ext cx="137160" cy="137160"/>
          </a:xfrm>
          <a:prstGeom prst="star4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4-Point Star 4"/>
          <p:cNvSpPr/>
          <p:nvPr/>
        </p:nvSpPr>
        <p:spPr>
          <a:xfrm>
            <a:off x="11430000" y="457200"/>
            <a:ext cx="109728" cy="109728"/>
          </a:xfrm>
          <a:prstGeom prst="star4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6217920"/>
            <a:ext cx="73152" cy="73152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6035040"/>
            <a:ext cx="73152" cy="73152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572000" cy="123444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ASP.NET Web 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40280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100" b="1">
                <a:solidFill>
                  <a:srgbClr val="D4C0AE"/>
                </a:solidFill>
                <a:latin typeface="Calibri"/>
              </a:defRPr>
            </a:pPr>
            <a:r>
              <a:t>.NET Framework 4.7.2 / 4.8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1460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100" b="0">
                <a:solidFill>
                  <a:srgbClr val="6B635B"/>
                </a:solidFill>
                <a:latin typeface="Calibri"/>
              </a:defRPr>
            </a:pPr>
            <a:r>
              <a:t>The main framework used to build the website. Uses Master Pages and Code-Behind pattern.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4572000" cy="123444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01568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Google Fonts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100" b="1">
                <a:solidFill>
                  <a:srgbClr val="D4C0AE"/>
                </a:solidFill>
                <a:latin typeface="Calibri"/>
              </a:defRPr>
            </a:pPr>
            <a:r>
              <a:t>Cormorant Garamond (Serif)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7764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100" b="0">
                <a:solidFill>
                  <a:srgbClr val="6B635B"/>
                </a:solidFill>
                <a:latin typeface="Calibri"/>
              </a:defRPr>
            </a:pPr>
            <a:r>
              <a:t>Elegant serif font used for headings and the brand name to give a fashion-style feel.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4572000" cy="123444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864608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Google Fonts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166360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100" b="1">
                <a:solidFill>
                  <a:srgbClr val="D4C0AE"/>
                </a:solidFill>
                <a:latin typeface="Calibri"/>
              </a:defRPr>
            </a:pPr>
            <a:r>
              <a:t>Raleway (Sans-Serif)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4068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100" b="0">
                <a:solidFill>
                  <a:srgbClr val="6B635B"/>
                </a:solidFill>
                <a:latin typeface="Calibri"/>
              </a:defRPr>
            </a:pPr>
            <a:r>
              <a:t>Clean sans-serif font used for body text and navigation — easy to read.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1828800"/>
            <a:ext cx="4846320" cy="1234440"/>
          </a:xfrm>
          <a:prstGeom prst="roundRect">
            <a:avLst/>
          </a:prstGeom>
          <a:solidFill>
            <a:srgbClr val="E0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193852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Vanilla 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24028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100" b="1">
                <a:solidFill>
                  <a:srgbClr val="5A524A"/>
                </a:solidFill>
                <a:latin typeface="Calibri"/>
              </a:defRPr>
            </a:pPr>
            <a:r>
              <a:t>No Bootstrap or Tailwind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5146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100" b="0">
                <a:solidFill>
                  <a:srgbClr val="6B635B"/>
                </a:solidFill>
                <a:latin typeface="Calibri"/>
              </a:defRPr>
            </a:pPr>
            <a:r>
              <a:t>All styling is custom-built from scratch using CSS Grid, Flexbox, CSS Variables, and media queries. 1,209 lines.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3291840"/>
            <a:ext cx="4846320" cy="1234440"/>
          </a:xfrm>
          <a:prstGeom prst="roundRect">
            <a:avLst/>
          </a:prstGeom>
          <a:solidFill>
            <a:srgbClr val="E0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340156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600" b="1">
                <a:solidFill>
                  <a:srgbClr val="3C3530"/>
                </a:solidFill>
                <a:latin typeface="Calibri"/>
              </a:defRPr>
            </a:pPr>
            <a:r>
              <a:t>Vanilla JavaScript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70332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100" b="1">
                <a:solidFill>
                  <a:srgbClr val="5A524A"/>
                </a:solidFill>
                <a:latin typeface="Calibri"/>
              </a:defRPr>
            </a:pPr>
            <a:r>
              <a:t>No jQuery or React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9776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100" b="0">
                <a:solidFill>
                  <a:srgbClr val="6B635B"/>
                </a:solidFill>
                <a:latin typeface="Calibri"/>
              </a:defRPr>
            </a:pPr>
            <a:r>
              <a:t>All interactions built with plain JS and IntersectionObserver API. 304 lines of code.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937760"/>
            <a:ext cx="4846320" cy="1097280"/>
          </a:xfrm>
          <a:prstGeom prst="round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50749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400"/>
              </a:spcAft>
              <a:defRPr sz="1400" b="1">
                <a:solidFill>
                  <a:srgbClr val="E0D0C0"/>
                </a:solidFill>
                <a:latin typeface="Calibri"/>
              </a:defRPr>
            </a:pPr>
            <a:r>
              <a:t>Note</a:t>
            </a:r>
          </a:p>
          <a:p>
            <a:pPr algn="l"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C0B6AA"/>
                </a:solidFill>
                <a:latin typeface="Calibri"/>
              </a:defRPr>
            </a:pPr>
            <a:r>
              <a:t>No external CSS or JavaScript frameworks were used. Everything is custom-built from scratch.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E0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3600" b="1">
                <a:solidFill>
                  <a:srgbClr val="3C3530"/>
                </a:solidFill>
                <a:latin typeface="Georgia"/>
              </a:defRPr>
            </a:pPr>
            <a:r>
              <a:t>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1800" b="0">
                <a:solidFill>
                  <a:srgbClr val="6B635B"/>
                </a:solidFill>
                <a:latin typeface="Calibri"/>
              </a:defRPr>
            </a:pPr>
            <a:r>
              <a:t>Server-Side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744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73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602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031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460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31820" y="1645920"/>
            <a:ext cx="153162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4-Point Star 12"/>
          <p:cNvSpPr/>
          <p:nvPr/>
        </p:nvSpPr>
        <p:spPr>
          <a:xfrm>
            <a:off x="4572000" y="457200"/>
            <a:ext cx="137160" cy="137160"/>
          </a:xfrm>
          <a:prstGeom prst="star4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E0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2860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1400"/>
              </a:spcAft>
              <a:defRPr sz="1800" b="1">
                <a:solidFill>
                  <a:srgbClr val="3C3530"/>
                </a:solidFill>
                <a:latin typeface="Calibri"/>
              </a:defRPr>
            </a:pPr>
            <a:r>
              <a:t>Email Validation (Lookbook Page)</a:t>
            </a:r>
          </a:p>
          <a:p>
            <a:pPr algn="l">
              <a:lnSpc>
                <a:spcPts val="1800"/>
              </a:lnSpc>
              <a:spcAft>
                <a:spcPts val="1400"/>
              </a:spcAft>
              <a:defRPr sz="1300" b="0">
                <a:solidFill>
                  <a:srgbClr val="6B635B"/>
                </a:solidFill>
                <a:latin typeface="Calibri"/>
              </a:defRPr>
            </a:pPr>
            <a:r>
              <a:t>The newsletter subscription form checks user input on the server side using C# code-behind: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300" b="1">
                <a:solidFill>
                  <a:srgbClr val="3C3530"/>
                </a:solidFill>
                <a:latin typeface="Calibri"/>
              </a:defRPr>
            </a:pPr>
            <a:r>
              <a:t>If email is empty:</a:t>
            </a:r>
          </a:p>
          <a:p>
            <a:pPr algn="l">
              <a:lnSpc>
                <a:spcPts val="1600"/>
              </a:lnSpc>
              <a:spcAft>
                <a:spcPts val="100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    Shows "Please enter your email address."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300" b="1">
                <a:solidFill>
                  <a:srgbClr val="3C3530"/>
                </a:solidFill>
                <a:latin typeface="Calibri"/>
              </a:defRPr>
            </a:pPr>
            <a:r>
              <a:t>If email format is invalid (missing @ or .):</a:t>
            </a:r>
          </a:p>
          <a:p>
            <a:pPr algn="l">
              <a:lnSpc>
                <a:spcPts val="1600"/>
              </a:lnSpc>
              <a:spcAft>
                <a:spcPts val="100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    Shows "Please enter a valid email address."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300" b="1">
                <a:solidFill>
                  <a:srgbClr val="3C3530"/>
                </a:solidFill>
                <a:latin typeface="Calibri"/>
              </a:defRPr>
            </a:pPr>
            <a:r>
              <a:t>If email is valid:</a:t>
            </a:r>
          </a:p>
          <a:p>
            <a:pPr algn="l">
              <a:lnSpc>
                <a:spcPts val="1600"/>
              </a:lnSpc>
              <a:spcAft>
                <a:spcPts val="1200"/>
              </a:spcAft>
              <a:defRPr sz="1200" b="0">
                <a:solidFill>
                  <a:srgbClr val="6B635B"/>
                </a:solidFill>
                <a:latin typeface="Calibri"/>
              </a:defRPr>
            </a:pPr>
            <a:r>
              <a:t>    Shows "Thank you for subscribing!"</a:t>
            </a:r>
          </a:p>
          <a:p>
            <a:pPr algn="l">
              <a:lnSpc>
                <a:spcPts val="1600"/>
              </a:lnSpc>
              <a:spcAft>
                <a:spcPts val="400"/>
              </a:spcAft>
              <a:defRPr sz="1200" b="1">
                <a:solidFill>
                  <a:srgbClr val="5A524A"/>
                </a:solidFill>
                <a:latin typeface="Calibri"/>
              </a:defRPr>
            </a:pPr>
            <a:r>
              <a:t>Error → pink message    |    Success → green message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103120"/>
            <a:ext cx="5029200" cy="1645920"/>
          </a:xfrm>
          <a:prstGeom prst="round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2860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800"/>
              </a:spcAft>
              <a:defRPr sz="1600" b="1">
                <a:solidFill>
                  <a:srgbClr val="E0D0C0"/>
                </a:solidFill>
                <a:latin typeface="Calibri"/>
              </a:defRPr>
            </a:pPr>
            <a:r>
              <a:t>Page Redirects</a:t>
            </a:r>
          </a:p>
          <a:p>
            <a:pPr algn="l"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C0B6AA"/>
                </a:solidFill>
                <a:latin typeface="Calibri"/>
              </a:defRPr>
            </a:pPr>
            <a:r>
              <a:t>Buttons like "View Collection" use server-side Response.Redirect() to safely send users to the correct page.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023360"/>
            <a:ext cx="5029200" cy="1645920"/>
          </a:xfrm>
          <a:prstGeom prst="round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420624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800"/>
              </a:spcAft>
              <a:defRPr sz="1600" b="1">
                <a:solidFill>
                  <a:srgbClr val="E0D0C0"/>
                </a:solidFill>
                <a:latin typeface="Calibri"/>
              </a:defRPr>
            </a:pPr>
            <a:r>
              <a:t>Collection Filter State</a:t>
            </a:r>
          </a:p>
          <a:p>
            <a:pPr algn="l"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C0B6AA"/>
                </a:solidFill>
                <a:latin typeface="Calibri"/>
              </a:defRPr>
            </a:pPr>
            <a:r>
              <a:t>ViewState remembers which category filter is selected, even after the page refreshes (postback).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5943600"/>
            <a:ext cx="5029200" cy="640080"/>
          </a:xfrm>
          <a:prstGeom prst="roundRect">
            <a:avLst/>
          </a:prstGeom>
          <a:solidFill>
            <a:srgbClr val="D4C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59893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  <a:defRPr sz="1200" b="0">
                <a:solidFill>
                  <a:srgbClr val="3C3530"/>
                </a:solidFill>
                <a:latin typeface="Calibri"/>
              </a:defRPr>
            </a:pPr>
            <a:r>
              <a:t>Messages shown using ASP.NET Label controls with CSS classes</a:t>
            </a:r>
          </a:p>
        </p:txBody>
      </p:sp>
      <p:sp>
        <p:nvSpPr>
          <p:cNvPr id="22" name="Oval 21"/>
          <p:cNvSpPr/>
          <p:nvPr/>
        </p:nvSpPr>
        <p:spPr>
          <a:xfrm>
            <a:off x="274320" y="6400800"/>
            <a:ext cx="73152" cy="73152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200" y="6583680"/>
            <a:ext cx="73152" cy="73152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0" y="457200"/>
            <a:ext cx="5943600" cy="5943600"/>
          </a:xfrm>
          <a:prstGeom prst="ellipse">
            <a:avLst/>
          </a:prstGeom>
          <a:solidFill>
            <a:srgbClr val="E0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029200" cy="4114800"/>
          </a:xfrm>
          <a:prstGeom prst="round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6400"/>
              </a:lnSpc>
              <a:spcAft>
                <a:spcPts val="0"/>
              </a:spcAft>
              <a:defRPr sz="4800" b="1">
                <a:solidFill>
                  <a:srgbClr val="FFFFFF"/>
                </a:solidFill>
                <a:latin typeface="Georgia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108960"/>
            <a:ext cx="2286000" cy="25400"/>
          </a:xfrm>
          <a:prstGeom prst="rect">
            <a:avLst/>
          </a:prstGeom>
          <a:solidFill>
            <a:srgbClr val="E0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000"/>
              </a:lnSpc>
              <a:spcAft>
                <a:spcPts val="0"/>
              </a:spcAft>
              <a:defRPr sz="1500" b="0">
                <a:solidFill>
                  <a:srgbClr val="E0D0C0"/>
                </a:solidFill>
                <a:latin typeface="Calibri"/>
              </a:defRPr>
            </a:pPr>
            <a:r>
              <a:t>AMORET  —  "Romance, reimagined"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  <a:defRPr sz="1200" b="0">
                <a:solidFill>
                  <a:srgbClr val="90867C"/>
                </a:solidFill>
                <a:latin typeface="Calibri"/>
              </a:defRPr>
            </a:pPr>
            <a:r>
              <a:t>ASP.NET Web Forms  |  Vanilla CSS  |  Vanilla 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  <a:defRPr sz="1200" b="0">
                <a:solidFill>
                  <a:srgbClr val="90867C"/>
                </a:solidFill>
                <a:latin typeface="Calibri"/>
              </a:defRPr>
            </a:pPr>
            <a:r>
              <a:t>Creative Website Development Project</a:t>
            </a:r>
          </a:p>
        </p:txBody>
      </p:sp>
      <p:sp>
        <p:nvSpPr>
          <p:cNvPr id="9" name="Oval 8"/>
          <p:cNvSpPr/>
          <p:nvPr/>
        </p:nvSpPr>
        <p:spPr>
          <a:xfrm>
            <a:off x="8229600" y="914400"/>
            <a:ext cx="3657600" cy="3657600"/>
          </a:xfrm>
          <a:prstGeom prst="ellipse">
            <a:avLst/>
          </a:prstGeom>
          <a:solidFill>
            <a:srgbClr val="D4C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37744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4000"/>
              </a:lnSpc>
              <a:spcAft>
                <a:spcPts val="0"/>
              </a:spcAft>
              <a:defRPr sz="3000" b="1">
                <a:solidFill>
                  <a:srgbClr val="3C3530"/>
                </a:solidFill>
                <a:latin typeface="Georgia"/>
              </a:defRPr>
            </a:pPr>
            <a:r>
              <a:t>Amoret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9260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1800" b="0">
                <a:solidFill>
                  <a:srgbClr val="5A524A"/>
                </a:solidFill>
                <a:latin typeface="Calibri"/>
              </a:defRPr>
            </a:pPr>
            <a:r>
              <a:t>Fashion</a:t>
            </a:r>
          </a:p>
        </p:txBody>
      </p:sp>
      <p:sp>
        <p:nvSpPr>
          <p:cNvPr id="12" name="4-Point Star 11"/>
          <p:cNvSpPr/>
          <p:nvPr/>
        </p:nvSpPr>
        <p:spPr>
          <a:xfrm>
            <a:off x="6400800" y="457200"/>
            <a:ext cx="164592" cy="164592"/>
          </a:xfrm>
          <a:prstGeom prst="star4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4-Point Star 12"/>
          <p:cNvSpPr/>
          <p:nvPr/>
        </p:nvSpPr>
        <p:spPr>
          <a:xfrm>
            <a:off x="11430000" y="5943600"/>
            <a:ext cx="137160" cy="137160"/>
          </a:xfrm>
          <a:prstGeom prst="star4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4-Point Star 13"/>
          <p:cNvSpPr/>
          <p:nvPr/>
        </p:nvSpPr>
        <p:spPr>
          <a:xfrm>
            <a:off x="274320" y="457200"/>
            <a:ext cx="109728" cy="109728"/>
          </a:xfrm>
          <a:prstGeom prst="star4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0" y="6217920"/>
            <a:ext cx="73152" cy="73152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0" y="6035040"/>
            <a:ext cx="73152" cy="73152"/>
          </a:xfrm>
          <a:prstGeom prst="ellipse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noFill/>
          <a:ln w="12700">
            <a:solidFill>
              <a:srgbClr val="5A5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731520"/>
            <a:ext cx="365760" cy="1905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731520"/>
            <a:ext cx="19050" cy="36576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12880" y="4735830"/>
            <a:ext cx="365760" cy="1905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59590" y="4389120"/>
            <a:ext cx="19050" cy="365760"/>
          </a:xfrm>
          <a:prstGeom prst="rect">
            <a:avLst/>
          </a:prstGeom>
          <a:solidFill>
            <a:srgbClr val="3C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